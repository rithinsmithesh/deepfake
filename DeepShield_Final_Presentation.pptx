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 respected faculty and evaluators. Today we present DeepShield, an explainable multimodal forensic system designed to combat the rising threat of hyper-realistic deepfakes and AI voice cloning in live video communications. Unlike traditional systems that examine only video frames or only audio waveforms in isolation, DeepShield cross-validates visual spatial artifacts, acoustic speech properties, and biometric lip synchronization to produce a tamper-resistant Trust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 we establish the critical problem: synthetic media is becoming undetectable to the naked eye. More importantly, existing research heavily focuses on unimodal detection—either video or audio. Our contribution is demonstrating that combining modalities creates a mathematical defense that synthetic tools struggle to fool.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articulate our specific problem statement and project goals. Evaluators should note that we solved not only the visual detection problem, but also cross-modal biological synchronization, and solved the edge-case where an attacker maliciously strips the audio track to bypass sync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depicts our end-to-end data pipeline. An uploaded video is split into frames and an isolated audio stream. Frames flow to EfficientNet-B0 and MediaPipe. The audio flows to Librosa. Features from both streams are correlated, and synthesized in our Trust Engine to yield an explainable score between 0 and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discuss Pillar 1. We chose EfficientNet-B0 because of its compound scaling property—balancing accuracy against inference speed. On 3,234 test frames from FakeAVCeleb, the model achieved 99.75% accuracy. Sub-50ms frame inference makes it viable for real-time video call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Pillar 2 handles audio acoustics. DeepShield standardizes audio to 16kHz mono using FFmpeg. We compute RMS vocal energy envelopes to track syllable dynamics, and 13-band MFCCs to capture vocal tract geometry. Synthetic vocoders often leave frequency artifacts in higher MFCC bands.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Pillar 3 is our strongest cross-modal biometric weapon. We track the inner-lip aperture between MediaPipe landmarks 13 and 14. We align it with vocal volume and calculate the Pearson correlation r. An important academic finding: human speech naturally correlates around 9 to 35 on this scale because of bilabial consonants like M, B, and P where lips close during vocalization. Desynced videos have zero or negative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mathematical fusion engine. We allocate 75% weight to Spatial CNN and 25% to Lip Sync. Importantly, we built an adversarial defense: if a video has no audio, we penalize the score by 25%, dropping a ~70% video to 52.4%, classifying it as Inconclusive. Attackers cannot cheat the system by muting clips.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displays our experimental benchmarks. FakeAVCeleb is the gold standard multi-modal deepfake dataset. Notice that our model achieved 99.75% accuracy. Crucially, the authentic sync score in the dataset averages 9.37, while synthetic desynced clips drop down to 1.82 or negative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also placed heavy emphasis on engineering delivery. We built a production-grade Streamlit web app featuring an obsidian dark theme, interactive Plotly radial gauges, and deployed it live to the web. The entire codebase is containerized and available on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walk evaluators through three concrete scenarios: First, an authentic video which scores 69.75 (Green Authentic). Second, a desynced deepfake where negative Pearson correlation drops the trust score to 37.5 (Red Deepfake). Third, a muted video where audio is stripped—our engine applies the missing modality penalty and drops it to 52.42 (Amber Caution).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DeepShield establishes that explainable multimodal deep learning is the future of synthetic media forensics. We achieved 99.75% visual accuracy, engineered biological lip-sync tracking, formulated a robust trust engine with adversarial defenses, and deployed a live web solution. Thank you for your time, and we are now ready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🛡️ DEEPSHIELD // MULTIMODAL FORENSICS</a:t>
            </a:r>
          </a:p>
          <a:p>
            <a:pPr>
              <a:spcBef>
                <a:spcPts val="1200"/>
              </a:spcBef>
              <a:defRPr sz="3200" b="1">
                <a:solidFill>
                  <a:srgbClr val="F8FAFC"/>
                </a:solidFill>
              </a:defRPr>
            </a:pPr>
            <a:r>
              <a:t>DeepShield: Explainable Multimodal Deepfake</a:t>
            </a:r>
            <a:br/>
            <a:r>
              <a:t>&amp; Voice Manipulation Forensic Detection Engine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Synergistic Triangulation of Spatial CNN Features, Acoustic Spectrograms &amp; Biometric Lip Synchronization</a:t>
            </a:r>
          </a:p>
          <a:p>
            <a:pPr>
              <a:spcBef>
                <a:spcPts val="2800"/>
              </a:spcBef>
              <a:defRPr sz="1200">
                <a:solidFill>
                  <a:srgbClr val="10B981"/>
                </a:solidFill>
              </a:defRPr>
            </a:pPr>
            <a:r>
              <a:t>Final Project Presentation | Deep Learning &amp; Computer Vision</a:t>
            </a:r>
            <a:br/>
            <a:r>
              <a:t>Developed &amp; Verified on FakeAVCeleb Dataset | Powered by EfficientNet-B0 + MediaPipe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CONTEXT &amp; MOTIVATION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The Deepfake Threat Landscape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Why video-only and audio-only security models are no longer sufficient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🚨 The Emerging Threat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Generative AI models (Wav2Lip, DiffSVC, ElevenLabs, FaceSwap) have commoditized deepfake creation. Fraudsters exploit synthetic personas in live Zoom/Teams meetings, CEO fraud, KYC spoofing, and social engineering.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874519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⚠️ Unimodal Detection Failure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Video-only CNNs fail when video compression hides pixel artifacts. Audio-only classifiers fail on authentic audio paired with swapped faces. Attackers easily bypass single-channel security filters.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56432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8744" y="1874519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🛡️ The DeepShield Paradigm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Multimodal Defense in Depth: Real-time spatial feature analysis + acoustic feature profiling + cross-modal biometric alignment (MediaPipe FaceLandmarker + Pearson Correlation).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PROBLEM STATEMENT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Research Questions &amp; Project Objectives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Guiding questions shaping our forensic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84648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7274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🎯 Core Research Problems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How to detect subtle blending boundaries and diffusion noise across video frames without high computational overhead?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How to verify whether spoken acoustic audio physically corresponds to visible biological mouth movement?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How to mathematically handle incomplete or adversarial inputs (e.g. videos with stripped or muted audio tracks)?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How to present forensic verdicts with clear explainability rather than an opaque black-box probability?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645920"/>
            <a:ext cx="5184648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1384" y="1874519"/>
            <a:ext cx="47274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✅ Engineering Objectives Met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✔ Trained EfficientNet-B0 on FakeAVCeleb achieving 99.75% visual test accuracy on 3,234 validation frames.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✔ Built 16kHz Librosa/FFmpeg audio pipeline extracting RMS Vocal Energy Dynamics &amp; 13-band MFCC Spectrograms.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✔ Engineered real-time Lip Aperture tracking using MediaPipe FaceLandmarker (Inner Lip Landmarks 13 &amp; 14).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✔ Formulated Explainable Multimodal Trust Engine (0.75 Visual + 0.25 Sync) with Missing-Modality Penalties.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✔ Delivered interactive web forensic platform deployed live to Streamlit Cloud with Apple Silicon MPS acceleration.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SYSTEM DESIGN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End-to-End Multimodal Pipeline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Triangulating truth across parallel visual, acoustic, and biometric analysis streams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66543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1: Ingestion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Upload MP4 / MOV / WebM</a:t>
            </a:r>
            <a:br/>
            <a:r>
              <a:t>Video Container Telemetry</a:t>
            </a:r>
            <a:br/>
            <a:r>
              <a:t>16 Uniform Frame Sampler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645920"/>
            <a:ext cx="2066543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1" y="1874519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84FC"/>
                </a:solidFill>
              </a:defRPr>
            </a:pPr>
            <a:r>
              <a:t>Step 2: Dual Processing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Stream A: 224×224 Frames</a:t>
            </a:r>
            <a:br/>
            <a:r>
              <a:t>Stream B: 16kHz Mono WAV</a:t>
            </a:r>
            <a:br/>
            <a:r>
              <a:t>Stream C: FaceMesh Landmarks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45920"/>
            <a:ext cx="2066543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1224" y="1874519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Step 3: Feature Modeling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EfficientNet-B0 Spatial CNN</a:t>
            </a:r>
            <a:br/>
            <a:r>
              <a:t>Librosa 13-band MFCCs</a:t>
            </a:r>
            <a:br/>
            <a:r>
              <a:t>Landmarks 13 &amp; 14 Aperture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645920"/>
            <a:ext cx="2066543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1874519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Step 4: Cross-Modal Sync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Pearson Correlation (r)</a:t>
            </a:r>
            <a:br/>
            <a:r>
              <a:t>Lip-Aperture vs RMS Energy</a:t>
            </a:r>
            <a:br/>
            <a:r>
              <a:t>Sync Score = max(0, r) * 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645920"/>
            <a:ext cx="2066543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874519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5: Trust Fusion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Trust = 0.75·V + 0.25·S</a:t>
            </a:r>
            <a:br/>
            <a:r>
              <a:t>Degradation Penalties</a:t>
            </a:r>
            <a:br/>
            <a:r>
              <a:t>Forensic Verdict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PILLAR 1: SPATIAL VISION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Spatial Visual Deepfake Detection (EfficientNet-B0)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High-throughput frame inspection capturing boundary artifacts and blending noise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84648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7274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🧠 Model Architecture &amp; Training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Backbone: EfficientNet-B0 with compound scaling (depth, width, resolution).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Pretrained on ImageNet-1K; custom classification head with Linear(1280, 2) outputting (0: Fake, 1: Real).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Pre-processing: Uniform 16-frame temporal sampling, center cropping, resizing to 224×224 px.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Normalization: Mean [0.485, 0.456, 0.406], Std [0.229, 0.224, 0.225].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Hardware Acceleration: Native PyTorch Apple Silicon MPS (Metal Performance Shaders) / CUDA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645920"/>
            <a:ext cx="5184648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1384" y="1874519"/>
            <a:ext cx="47274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📊 Empirical Validation Metrics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Test Accuracy: 99.75% (3,234 test frames from FakeAVCeleb)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Precision: 100.0% (Zero false positives on authentic faces)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Recall: 99.74% (3,075 of 3,083 fake frames detected)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F1-Score: 99.87% (Balanced performance across classes)</a:t>
            </a:r>
          </a:p>
          <a:p>
            <a:pPr>
              <a:spcBef>
                <a:spcPts val="1600"/>
              </a:spcBef>
              <a:defRPr sz="1100">
                <a:solidFill>
                  <a:srgbClr val="38BDF8"/>
                </a:solidFill>
              </a:defRPr>
            </a:pPr>
            <a:r>
              <a:t>Why EfficientNet-B0? It delivers SOTA accuracy with only 5.3M parameters, allowing real-time video call processing with sub-50ms per-frame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PILLAR 2: ACOUSTIC ANALYSIS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Acoustic Signal Processing &amp; Vocal Energy Profiling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Decomposing speech into spectral envelopes and vocal tract dynamic representations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🔊 16kHz Stream Demuxing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Extracted via FFmpeg as a pristine 16,000 Hz 16-bit mono WAV stream.</a:t>
            </a:r>
            <a:br/>
            <a:br/>
            <a:r>
              <a:t>Eliminates multi-channel phase noise and standardizes the sample rate for forensic acoustic extraction.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874519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📈 RMS Vocal Energy Envelope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Calculates Root Mean Square (RMS) frame-level vocal amplitude: RMS = sqrt(mean(x^2)).</a:t>
            </a:r>
            <a:br/>
            <a:br/>
            <a:r>
              <a:t>Identifies active speech syllables vs. inter-speech pauses and background silence.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56432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8744" y="1874519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🌈 13-Band MFCC Spectrograms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Extracts Mel-Frequency Cepstral Coefficients (MFCCs) with 512 hop-length.</a:t>
            </a:r>
            <a:br/>
            <a:br/>
            <a:r>
              <a:t>Captures the acoustic shape of the human vocal tract. Synthetic voice clones often display discontinuous higher-frequency harmonics.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PILLAR 3: CROSS-MODAL BIOMETRICS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Audio–Lip Synchronization (MediaPipe + Pearson Correlation)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Verifying that mouth mechanics physically correspond to acoustic phoneme bursts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84648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7274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👄 Biological Landmark Tracking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Tracks 478 3D facial mesh points via Google MediaPipe FaceLandmarker.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Key Biological Anchor: Inner-lip vertical aperture between Landmark 13 (upper inner lip) and Landmark 14 (lower inner lip).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Aperture Formula: D_lip(t) = sqrt((x13 - x14)^2 + (y13 - y14)^2) normalized by inter-pupillary distance.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Temporal Interpolation: Aligns video frame rate (e.g. 30 FPS) with audio RMS frame rate (31.25 FPS) via linear interpolation.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Robustness: Works under slight facial angle changes, head rotations, and diverse lighting conditions.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645920"/>
            <a:ext cx="5184648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1384" y="1874519"/>
            <a:ext cx="47274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📐 Pearson Correlation &amp; Sync Score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Pearson Correlation Coefficient (r):</a:t>
            </a:r>
            <a:br/>
            <a:r>
              <a:t>Evaluates the linear relationship between vocal energy E(t) and lip opening D(t).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Sync Score Formulation:</a:t>
            </a:r>
            <a:br/>
            <a:r>
              <a:t>Sync Score = max(0, r) * 100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Dataset Ground Truth Context (FakeAVCeleb):</a:t>
            </a:r>
            <a:br/>
            <a:r>
              <a:t>Authentic human speech averages Sync Score = 9.37 / 100 (median 6.48).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Why isn't human sync 100%? Bilabial plosives ('M', 'B', 'P') force human lips to firmly close while vocal cord pressure is high!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Desynced synthetic videos yield near-zero or negative correlation (r &lt;= 0), triggering immediate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DECISION ENGINE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Explainable Multimodal Trust Score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Unified mathematical formulation and missing-modality adversarial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828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🔢 THE MULTIMODAL TRUST SCORE FORMULA</a:t>
            </a:r>
          </a:p>
          <a:p>
            <a:pPr>
              <a:spcBef>
                <a:spcPts val="600"/>
              </a:spcBef>
              <a:defRPr sz="2600" b="1">
                <a:solidFill>
                  <a:srgbClr val="F8FAFC"/>
                </a:solidFill>
              </a:defRPr>
            </a:pPr>
            <a:r>
              <a:t>Trust Score = 0.75 · V_real + 0.25 · S_norm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Where: V_real = Mean Spatial CNN Real Probability (%) | S_norm = min(100, max(0, Sync Score × 2.0)) (%)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5212080" cy="237744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7947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⚠️ Missing-Modality Adversarial Guardrail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Attack Scenario: An adversary strips the audio track to avoid lip-sync detection.</a:t>
            </a:r>
            <a:br/>
            <a:r>
              <a:t>• Defense: DeepShield voids the 25% sync credit. Trust drops from ~70% to 52.4% max.</a:t>
            </a:r>
            <a:br/>
            <a:r>
              <a:t>• Status: Re-labeled as Inconclusive / Degraded (Audio Missing).</a:t>
            </a:r>
            <a:br/>
            <a:r>
              <a:t>• Prevents attackers from gaming the system by omitting audio.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3657600"/>
            <a:ext cx="5212080" cy="237744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37947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🚦 Calibrated Forensic Decision Tiers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🟢 [65 - 100] High Confidence Authentic: Natural facial features &amp; coherent speech.</a:t>
            </a:r>
            <a:br/>
            <a:r>
              <a:t>🟡 [45 - 65] Inconclusive / Caution: Degraded modality, low sync, or audio stripped.</a:t>
            </a:r>
            <a:br/>
            <a:r>
              <a:t>🔴 [0 - 45] Synthetic / High Risk Deepfake: Significant spatial artifacting or desync.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EXPERIMENTAL RESULTS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Dataset Benchmarks on FakeAVCeleb v1.2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Comprehensive empirical evaluation across 230 validation videos and 3,234 test frames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📈 Quantitative Metric Summary</a:t>
            </a:r>
          </a:p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  <a:r>
              <a:t>Dataset: FakeAVCeleb v1.2 (Multi-ethnic celebrity videos generated via FaceSwap, FSGAN, Wav2Lip, SV2TTS)</a:t>
            </a:r>
          </a:p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  <a:r>
              <a:t>Metric Category                 Result              Benchmark Comparison / Significance</a:t>
            </a:r>
          </a:p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Spatial Visual Accuracy         99.75%              3,226 correct out of 3,234 test frames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Spatial Precision               100.0%              Zero false alarms on genuine human faces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Spatial Recall                  99.74%              Detected 3,075 of 3,083 fake frames</a:t>
            </a:r>
          </a:p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  <a:r>
              <a:t>Authentic Sync Mean (r*100)     9.37 / 100          FakeAVCeleb real benchmark (median = 6.48)</a:t>
            </a:r>
          </a:p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  <a:r>
              <a:t>Synthetic Sync Mean             1.82 / 100          Desynced &amp; Wav2Lip manipulated speech clips</a:t>
            </a:r>
          </a:p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  <a:r>
              <a:t>Pipeline Latency                1.8 - 2.5s          Full multimodal inference on 8-second video clip</a:t>
            </a:r>
          </a:p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  <a:r>
              <a:t>Hardware Mode                   MPS (Metal)         Apple Silicon GPU Acceleration (sub-50ms / frame)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SYSTEM IMPLEMENTATION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DeepShield Web Application &amp; Live Deployment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High-performance forensic dashboard built for security analysts and compliance officers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🎨 Cyber Forensic UI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• Obsidian Dark Theme (#0B0F19)</a:t>
            </a:r>
            <a:br/>
            <a:r>
              <a:t>• Permanently pinned sidebar navigation</a:t>
            </a:r>
            <a:br/>
            <a:r>
              <a:t>• Radial speedometer Plotly Trust Gauge</a:t>
            </a:r>
            <a:br/>
            <a:r>
              <a:t>• Explainable signal contribution breakdown</a:t>
            </a:r>
            <a:br/>
            <a:r>
              <a:t>• Clean tabs for Verdict, CNN Frames, MFCC &amp; Sync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874519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⚡ Processing Engine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• PyTorch with Apple Silicon MPS GPU acceleration</a:t>
            </a:r>
            <a:br/>
            <a:r>
              <a:t>• OpenCV uniform temporal frame sampler</a:t>
            </a:r>
            <a:br/>
            <a:r>
              <a:t>• FFmpeg 16kHz audio extractor</a:t>
            </a:r>
            <a:br/>
            <a:r>
              <a:t>• MediaPipe FaceLandmarker pipeline</a:t>
            </a:r>
            <a:br/>
            <a:r>
              <a:t>• Sub-2.5 second total forensic execution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56432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8744" y="1874519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🌐 Deployment Stack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• Live on Streamlit Community Cloud</a:t>
            </a:r>
            <a:br/>
            <a:r>
              <a:t>• GitHub CI/CD automated deployment: github.com/rithinsmithesh/deepfake</a:t>
            </a:r>
            <a:br/>
            <a:r>
              <a:t>• Live URL: deepfakeaudio.streamlit.app</a:t>
            </a:r>
            <a:br/>
            <a:r>
              <a:t>• Debian Linux containerized dependencies (packages.txt + requirements.txt)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VALIDATION WALKTHROUGH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Three Live Verification Scenarios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Comparing system responses across authentic, desynced, and muted test videos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Scenario A: Real Talking Face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Video: Authentic human speech (7.99s)</a:t>
            </a:r>
            <a:br/>
            <a:r>
              <a:t>Spatial Real Prob: 69.89%</a:t>
            </a:r>
            <a:br/>
            <a:r>
              <a:t>Lip Sync Score: 34.68 / 100</a:t>
            </a:r>
            <a:br/>
            <a:r>
              <a:t>Pearson r: 0.3468 (Top 2% human tier)</a:t>
            </a:r>
            <a:br/>
            <a:br/>
            <a:r>
              <a:t>Trust Score: 69.75 / 100</a:t>
            </a:r>
            <a:br/>
            <a:r>
              <a:t>Verdict: High Confidence Authentic 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874519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Scenario B: Out-of-Phase / Desynced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Video: Synthetic Face / Desynced Audio</a:t>
            </a:r>
            <a:br/>
            <a:r>
              <a:t>Spatial Real Prob: 50.0%</a:t>
            </a:r>
            <a:br/>
            <a:r>
              <a:t>Lip Sync Score: 0.00 / 100</a:t>
            </a:r>
            <a:br/>
            <a:r>
              <a:t>Pearson r: -0.1420 (Anti-correlated)</a:t>
            </a:r>
            <a:br/>
            <a:br/>
            <a:r>
              <a:t>Trust Score: 37.5 / 100</a:t>
            </a:r>
            <a:br/>
            <a:r>
              <a:t>Verdict: Synthetic / Deepfake 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56432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8744" y="1874519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Scenario C: Audio Stripped / Muted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Video: Muted Video (No Audio Track)</a:t>
            </a:r>
            <a:br/>
            <a:r>
              <a:t>Spatial Real Prob: 69.89%</a:t>
            </a:r>
            <a:br/>
            <a:r>
              <a:t>Lip Sync Score: N/A (Nullified)</a:t>
            </a:r>
            <a:br/>
            <a:r>
              <a:t>Penalty: 25% Sync weight revoked</a:t>
            </a:r>
            <a:br/>
            <a:br/>
            <a:r>
              <a:t>Trust Score: 52.42 / 100</a:t>
            </a:r>
            <a:br/>
            <a:r>
              <a:t>Verdict: Inconclusive / Caution 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ROADMAP &amp; CONCLUSION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Summary of Contributions &amp; Future Enhancements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Transforming DeepShield into an enterprise video call security standard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84648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7274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🔮 Future Technical Roadmap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Spatiotemporal Transformers: Incorporating Video Swin or TimeSformer for cross-frame temporal motion consistency.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Live WebRTC Browser Extension: Direct integration into Zoom, Google Meet, and Microsoft Teams streams.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Synthetic Watermarking: Detection of generative diffusion latent signatures (e.g. Stable Video Diffusion).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Edge Device Optimization: Quantization to INT8 via TensorRT and CoreML for embedded webcam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645920"/>
            <a:ext cx="5184648" cy="43891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1384" y="1874519"/>
            <a:ext cx="47274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🏆 Key Takeaways &amp; Conclusion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✔ Multimodal beats unimodal: Combining spatial visual features with biometric lip-sync makes evasion exponentially harder.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✔ 99.75% Visual Test Accuracy demonstrated on 3,234 FakeAVCeleb test frames.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✔ Biologically Grounded: Landmark-level lip aperture tracking provides verifiable physical evidence, not black-box guesses.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✔ Production-Grade: Sub-2.5s execution latency, open-source repository on GitHub, and live cloud deployment.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Thank you! We welcome questions from the review committee.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